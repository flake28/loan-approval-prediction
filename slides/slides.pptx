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1263F"/>
                </a:solidFill>
              </a:defRPr>
            </a:pPr>
            <a:r>
              <a:t>Loan Approval Prediction</a:t>
            </a:r>
          </a:p>
          <a:p>
            <a:pPr algn="ctr">
              <a:defRPr sz="2400">
                <a:solidFill>
                  <a:srgbClr val="4C72B0"/>
                </a:solidFill>
              </a:defRPr>
            </a:pPr>
            <a:r>
              <a:t>AI for Engineers (UCS321) — MST Mini Project, Problem 5</a:t>
            </a:r>
          </a:p>
          <a:p>
            <a:pPr algn="ctr">
              <a:defRPr sz="1800">
                <a:solidFill>
                  <a:srgbClr val="11263F"/>
                </a:solidFill>
              </a:defRPr>
            </a:pPr>
            <a:r>
              <a:t>[YOUR NAME]  |  [ROLL NUMBER]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263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Predict whether a bank approves or rejects a loan application.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Binary classification: Approved (1) vs Rejected (0).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Goal: build an accurate, honest, explainable model — and find out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which applicant features actually drive the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263F"/>
                </a:solidFill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4,269 loan applications, 13 columns.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No missing values, no duplicate rows.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Features: income, loan amount, loan term, CIBIL (credit) score,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education, self-employment, 4 asset-value columns.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Target: loan_status — 62% Approved / 38% Rejected.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263F"/>
                </a:solidFill>
              </a:defRPr>
            </a:pPr>
            <a:r>
              <a:t>Pipeline Flow</a:t>
            </a:r>
          </a:p>
        </p:txBody>
      </p:sp>
      <p:pic>
        <p:nvPicPr>
          <p:cNvPr id="3" name="Picture 2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6193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263F"/>
                </a:solidFill>
              </a:defRPr>
            </a:pPr>
            <a:r>
              <a:t>Exploratory Data Analysis</a:t>
            </a:r>
          </a:p>
        </p:txBody>
      </p:sp>
      <p:pic>
        <p:nvPicPr>
          <p:cNvPr id="3" name="Picture 2" descr="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051560"/>
            <a:ext cx="76809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263F"/>
                </a:solidFill>
              </a:defRPr>
            </a:pPr>
            <a: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Logistic Regression — simple, interpretable baseline.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Decision Tree (max_depth=4) — captures non-linear splits, explainable.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Random Forest (300 trees) — ensemble, tuned with GridSearchCV.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All trained in a Pipeline (StandardScaler + classifier), class_weight='balanced',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random_state=42 everywhere for reproducibility.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263F"/>
                </a:solidFill>
              </a:defRPr>
            </a:pPr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88720" y="1280160"/>
          <a:ext cx="9784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020"/>
                <a:gridCol w="2446020"/>
                <a:gridCol w="2446020"/>
                <a:gridCol w="2446020"/>
              </a:tblGrid>
              <a:tr h="475488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Test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ROC-AUC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0.9785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0.9985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Random Forest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1263F"/>
                </a:solidFill>
              </a:defRPr>
            </a:pPr>
            <a:r>
              <a:t>Honesty flag: accuracy &gt; 95% — investigated, not hidden.</a:t>
            </a:r>
          </a:p>
          <a:p>
            <a:pPr>
              <a:spcAft>
                <a:spcPts val="1400"/>
              </a:spcAft>
              <a:defRPr sz="2000">
                <a:solidFill>
                  <a:srgbClr val="11263F"/>
                </a:solidFill>
              </a:defRPr>
            </a:pPr>
            <a:r>
              <a:t>cibil_score alone (threshold rule) gets 95.4% accuracy.</a:t>
            </a:r>
          </a:p>
          <a:p>
            <a:pPr>
              <a:spcAft>
                <a:spcPts val="1400"/>
              </a:spcAft>
              <a:defRPr sz="2000">
                <a:solidFill>
                  <a:srgbClr val="11263F"/>
                </a:solidFill>
              </a:defRPr>
            </a:pPr>
            <a:r>
              <a:t>Ablation: removing cibil_score drops F1 from 0.997 to 0.662 (-33.7%).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263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Best model: Decision Tree / tuned Random Forest (near-tied, F1 ≈ 0.997–0.999).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cibil_score is the dominant driver of approval — confirmed by two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independent importance methods and an ablation study.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Dataset is likely synthetic/simplified: near-deterministic score threshold.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Limits: no fairness audit, possible proxy bias via education/employment.</a:t>
            </a:r>
          </a:p>
          <a:p>
            <a:pPr>
              <a:spcAft>
                <a:spcPts val="1400"/>
              </a:spcAft>
              <a:defRPr sz="2400">
                <a:solidFill>
                  <a:srgbClr val="11263F"/>
                </a:solidFill>
              </a:defRPr>
            </a:pPr>
            <a:r>
              <a:t>Future work: XGBoost, SMOTE, real bank data, formal fairness audit.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